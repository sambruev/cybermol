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Интенсивность</c:v>
                </c:pt>
              </c:strCache>
            </c:strRef>
          </c:tx>
          <c:spPr>
            <a:solidFill>
              <a:srgbClr val="E11D2A"/>
            </a:solidFill>
            <a:ln w="38100" cap="flat">
              <a:solidFill>
                <a:srgbClr val="E11D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1D2A"/>
              </a:solidFill>
              <a:ln w="9525" cap="flat">
                <a:solidFill>
                  <a:srgbClr val="E11D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7</c:v>
                </c:pt>
                <c:pt idx="5">
                  <c:v>6</c:v>
                </c:pt>
                <c:pt idx="6">
                  <c:v>6</c:v>
                </c:pt>
                <c:pt idx="7">
                  <c:v>8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6E76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upbeat-brave-wozniak/mnt/outputs/logo/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41248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СТРАТЕГИЯ КОНТЕНТА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Как 12 постов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складываются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в одну историю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48640" y="4800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Концепция и логика контента — почему посты идут именно в таком порядке и как связаны между собой.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КИБЕРМОЛ</a:t>
            </a:r>
            <a:pPr indent="0" marL="0">
              <a:buNone/>
            </a:pPr>
            <a:r>
              <a:rPr lang="en-US" sz="1300" spc="100" kern="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Здоровая молодёжь — сильная Россия</a:t>
            </a:r>
            <a:endParaRPr lang="en-US" sz="1300" dirty="0"/>
          </a:p>
        </p:txBody>
      </p:sp>
      <p:pic>
        <p:nvPicPr>
          <p:cNvPr id="7" name="Image 1" descr="/sessions/upbeat-brave-wozniak/mnt/outputs/deck/thumbs/10_w4_pon_rossiy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371600"/>
            <a:ext cx="265176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СКВОЗНАЯ ИДЕЯ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Сила страны начинается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 силы одного человека.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 тебя.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040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Спорт — это путь, которым человек становится сильнее. Патриотизм — не лозунг, а естественный итог этого пути: стал сильным — есть что отдать своим и стране. Мы не объявляем это в лоб, а проводим читателя через эту мысль за месяц, шаг за шагом.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212080"/>
            <a:ext cx="2329891" cy="384048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202936"/>
            <a:ext cx="23298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Девиз-нить: «Сила в нас»</a:t>
            </a:r>
            <a:endParaRPr lang="en-US" sz="1250" dirty="0"/>
          </a:p>
        </p:txBody>
      </p:sp>
      <p:pic>
        <p:nvPicPr>
          <p:cNvPr id="7" name="Image 0" descr="/sessions/upbeat-brave-wozniak/mnt/outputs/deck/thumbs/01_w1_pon_k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48640"/>
            <a:ext cx="2834640" cy="3543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3252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Пост 01 · «Дисциплина — это свобода»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БОЛЬШАЯ КАРТИНА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Лента — это один сюжет,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а не 12 отдельных картинок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13" y="2661453"/>
            <a:ext cx="328087" cy="3280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4323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Сквозная идея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7980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 «про одно» — про силу. Подписчик чувствует единство.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3804453"/>
            <a:ext cx="328087" cy="3280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5753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Общий каркас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39410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Арка месяца и ритм недели держат последовательность.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754880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4947453"/>
            <a:ext cx="328087" cy="3280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7183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визуал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50840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Узнаваемость ленты с первого взгляда = бренд.</a:t>
            </a:r>
            <a:endParaRPr lang="en-US" sz="1350" dirty="0"/>
          </a:p>
        </p:txBody>
      </p:sp>
      <p:pic>
        <p:nvPicPr>
          <p:cNvPr id="16" name="Image 3" descr="/sessions/upbeat-brave-wozniak/mnt/outputs/deck/thumbs/06_w2_pya_ko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868680"/>
            <a:ext cx="1426464" cy="1783080"/>
          </a:xfrm>
          <a:prstGeom prst="rect">
            <a:avLst/>
          </a:prstGeom>
        </p:spPr>
      </p:pic>
      <p:pic>
        <p:nvPicPr>
          <p:cNvPr id="17" name="Image 4" descr="/sessions/upbeat-brave-wozniak/mnt/outputs/deck/thumbs/04_w2_pon_rossiy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761488"/>
            <a:ext cx="1426464" cy="1783080"/>
          </a:xfrm>
          <a:prstGeom prst="rect">
            <a:avLst/>
          </a:prstGeom>
        </p:spPr>
      </p:pic>
      <p:pic>
        <p:nvPicPr>
          <p:cNvPr id="18" name="Image 5" descr="/sessions/upbeat-brave-wozniak/mnt/outputs/deck/thumbs/10_w4_pon_rossiy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4654296"/>
            <a:ext cx="142646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АРКА МЕСЯЦА — ЧЕТЫРЕ АКТА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Я </a:t>
            </a:r>
            <a:pPr indent="0" marL="0">
              <a:buNone/>
            </a:pPr>
            <a:r>
              <a:rPr lang="en-US" sz="30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 </a:t>
            </a:r>
            <a:pPr indent="0" marL="0">
              <a:buNone/>
            </a:pPr>
            <a:r>
              <a:rPr lang="en-US" sz="3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Мы </a:t>
            </a:r>
            <a:pPr indent="0" marL="0">
              <a:buNone/>
            </a:pPr>
            <a:r>
              <a:rPr lang="en-US" sz="30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 </a:t>
            </a:r>
            <a:pPr indent="0" marL="0">
              <a:buNone/>
            </a:pPr>
            <a:r>
              <a:rPr lang="en-US" sz="3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Путь </a:t>
            </a:r>
            <a:pPr indent="0" marL="0">
              <a:buNone/>
            </a:pPr>
            <a:r>
              <a:rPr lang="en-US" sz="30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 </a:t>
            </a:r>
            <a:pPr indent="0" marL="0">
              <a:buNone/>
            </a:pPr>
            <a:r>
              <a:rPr lang="en-US" sz="3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Россия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7864" cy="324612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94560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2377257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9923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НЕДЕЛЯ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3246120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Я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04672" y="3858768"/>
            <a:ext cx="205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Личная сила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4672" y="4206240"/>
            <a:ext cx="205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«Сила начинается с меня»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473659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Посты 01 · 02 · 03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90824" y="1920240"/>
            <a:ext cx="2567864" cy="324612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46856" y="2194560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553" y="2377257"/>
            <a:ext cx="311262" cy="3112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46856" y="299923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НЕДЕЛЯ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46856" y="3246120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Мы</a:t>
            </a:r>
            <a:endParaRPr lang="en-US" sz="2500" dirty="0"/>
          </a:p>
        </p:txBody>
      </p:sp>
      <p:sp>
        <p:nvSpPr>
          <p:cNvPr id="17" name="Text 13"/>
          <p:cNvSpPr/>
          <p:nvPr/>
        </p:nvSpPr>
        <p:spPr>
          <a:xfrm>
            <a:off x="3646856" y="3858768"/>
            <a:ext cx="205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Принадлежность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646856" y="4206240"/>
            <a:ext cx="205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«Я среди своих»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646856" y="473659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Посты 04 · 05 · 06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33008" y="1920240"/>
            <a:ext cx="2567864" cy="324612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89040" y="2194560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737" y="2377257"/>
            <a:ext cx="311262" cy="3112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89040" y="299923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НЕДЕЛЯ 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89040" y="3246120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Путь</a:t>
            </a:r>
            <a:endParaRPr lang="en-US" sz="2500" dirty="0"/>
          </a:p>
        </p:txBody>
      </p:sp>
      <p:sp>
        <p:nvSpPr>
          <p:cNvPr id="25" name="Text 20"/>
          <p:cNvSpPr/>
          <p:nvPr/>
        </p:nvSpPr>
        <p:spPr>
          <a:xfrm>
            <a:off x="6489040" y="3858768"/>
            <a:ext cx="205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Испытание и память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89040" y="4206240"/>
            <a:ext cx="205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«Сила проверяется»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489040" y="473659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Посты 07 · 08 · 09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075191" y="1920240"/>
            <a:ext cx="2567864" cy="3246120"/>
          </a:xfrm>
          <a:prstGeom prst="roundRect">
            <a:avLst>
              <a:gd name="adj" fmla="val 4985"/>
            </a:avLst>
          </a:prstGeom>
          <a:solidFill>
            <a:srgbClr val="FCEBEB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331223" y="2194560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921" y="2377257"/>
            <a:ext cx="311262" cy="31126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31223" y="299923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14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НЕДЕЛЯ 4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331223" y="3246120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Россия</a:t>
            </a:r>
            <a:endParaRPr lang="en-US" sz="2500" dirty="0"/>
          </a:p>
        </p:txBody>
      </p:sp>
      <p:sp>
        <p:nvSpPr>
          <p:cNvPr id="33" name="Text 27"/>
          <p:cNvSpPr/>
          <p:nvPr/>
        </p:nvSpPr>
        <p:spPr>
          <a:xfrm>
            <a:off x="9331223" y="3858768"/>
            <a:ext cx="205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Смысл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9331223" y="4206240"/>
            <a:ext cx="205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«Моя сила = сила страны»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9331223" y="4736592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141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Посты 10 · 11 · 12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личного к национальному: сначала цепляем личным — и только заслужив доверие, говорим о большом.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РИТМ НЕДЕЛИ — ТРИ ПОСТА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Голова </a:t>
            </a:r>
            <a:pPr indent="0" marL="0">
              <a:buNone/>
            </a:pPr>
            <a:r>
              <a:rPr lang="en-US" sz="30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 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Сердце </a:t>
            </a:r>
            <a:pPr indent="0" marL="0">
              <a:buNone/>
            </a:pPr>
            <a:r>
              <a:rPr lang="en-US" sz="30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 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Руки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54298" cy="2926080"/>
          </a:xfrm>
          <a:prstGeom prst="roundRect">
            <a:avLst>
              <a:gd name="adj" fmla="val 4375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68296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565806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24612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ПОНЕДЕЛЬНИК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" y="3502152"/>
            <a:ext cx="28690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Голова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1248" y="4087368"/>
            <a:ext cx="28690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8CA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Принцип, заявление, манифест. Задаёт тон недели — пост на репост.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8698" y="2057400"/>
            <a:ext cx="3454298" cy="2926080"/>
          </a:xfrm>
          <a:prstGeom prst="roundRect">
            <a:avLst>
              <a:gd name="adj" fmla="val 4375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1306" y="2368296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817" y="2565806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1306" y="324612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СРЕДА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61306" y="3502152"/>
            <a:ext cx="28690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Сердце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661306" y="4087368"/>
            <a:ext cx="28690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8CA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Эмоция через живую историю или человека. Держит внимание в середине недели.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88757" y="2057400"/>
            <a:ext cx="3454298" cy="2926080"/>
          </a:xfrm>
          <a:prstGeom prst="roundRect">
            <a:avLst>
              <a:gd name="adj" fmla="val 4375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81365" y="2368296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875" y="2565806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81365" y="324612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ПЯТНИЦА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481365" y="3502152"/>
            <a:ext cx="28690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Руки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481365" y="4087368"/>
            <a:ext cx="28690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8CA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Призыв к действию перед выходными — челлендж, когда есть время участвовать.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 этого ритма каждую неделю и создаёт ощущение системы.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СЦЕПКА ПОСТОВ ВНУТРИ НЕДЕЛИ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Принцип → доказательство → действие</a:t>
            </a:r>
            <a:endParaRPr lang="en-US" sz="2900" dirty="0"/>
          </a:p>
        </p:txBody>
      </p:sp>
      <p:pic>
        <p:nvPicPr>
          <p:cNvPr id="4" name="Image 0" descr="/sessions/upbeat-brave-wozniak/mnt/outputs/deck/thumbs/01_w1_pon_k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219456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4956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«Дисциплина — это свобода»</a:t>
            </a:r>
            <a:endParaRPr lang="en-US" sz="1150" dirty="0"/>
          </a:p>
        </p:txBody>
      </p:sp>
      <p:pic>
        <p:nvPicPr>
          <p:cNvPr id="7" name="Image 1" descr="/sessions/upbeat-brave-wozniak/mnt/outputs/deck/thumbs/02_w1_sre_pu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28800"/>
            <a:ext cx="219456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916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ДОКАЗАТЕЛЬСТВО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0" y="4956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«Его не брали ни в одну секцию»</a:t>
            </a:r>
            <a:endParaRPr lang="en-US" sz="1150" dirty="0"/>
          </a:p>
        </p:txBody>
      </p:sp>
      <p:pic>
        <p:nvPicPr>
          <p:cNvPr id="10" name="Image 2" descr="/sessions/upbeat-brave-wozniak/mnt/outputs/deck/thumbs/03_w1_pya_vyzo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828800"/>
            <a:ext cx="2194560" cy="2743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5820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ДЕЙСТВИЕ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321040" y="4956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«7 дней планки»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61188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Text 9"/>
          <p:cNvSpPr/>
          <p:nvPr/>
        </p:nvSpPr>
        <p:spPr>
          <a:xfrm>
            <a:off x="736092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поста недели отвечают друг другу, как реплики одного разговора. Месяц — большая арка из четырёх таких мини-арок.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ШЕСТЬ РУБРИК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Каждая рубрика — своя партия в оркестре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477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1305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455" y="228362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112264"/>
            <a:ext cx="2387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Код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81328" y="2478024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Позвоночник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6384" y="2825496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Ценности, репостный манифест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3458" y="1874520"/>
            <a:ext cx="348477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1202" y="21305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73" y="228362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6146" y="2112264"/>
            <a:ext cx="2387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Путь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286146" y="2478024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Скрипка — эмоция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91202" y="2825496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История, сопереживание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58277" y="1874520"/>
            <a:ext cx="348477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6021" y="21305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091" y="228362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0965" y="2112264"/>
            <a:ext cx="2387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Вызов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9090965" y="2478024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Барабан — действие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96021" y="2825496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Вовлечение, UGC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348477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6384" y="39136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55" y="4066703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81328" y="3895344"/>
            <a:ext cx="2387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Сделано в России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481328" y="4261104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Медь — гордость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86384" y="4608576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Пик, цвет, флаг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53458" y="3657600"/>
            <a:ext cx="348477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1202" y="39136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73" y="4066703"/>
            <a:ext cx="260787" cy="2607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86146" y="3895344"/>
            <a:ext cx="2387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Лица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5286146" y="4261104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 — свои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91202" y="4608576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Узнавание «это про нас»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158277" y="3657600"/>
            <a:ext cx="348477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96021" y="39136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091" y="4066703"/>
            <a:ext cx="260787" cy="26078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90965" y="3895344"/>
            <a:ext cx="2387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Хроника</a:t>
            </a:r>
            <a:endParaRPr lang="en-US" sz="1700" dirty="0"/>
          </a:p>
        </p:txBody>
      </p:sp>
      <p:sp>
        <p:nvSpPr>
          <p:cNvPr id="38" name="Text 30"/>
          <p:cNvSpPr/>
          <p:nvPr/>
        </p:nvSpPr>
        <p:spPr>
          <a:xfrm>
            <a:off x="9090965" y="4261104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Бас — глубина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8396021" y="4608576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Корни, смысл, контекст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ЭМОЦИОНАЛЬНАЯ ВОЛНА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Месяц звучит не на одной ноте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82880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F5F5F3"/>
          </a:solidFill>
          <a:ln/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Внутри недели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Пн — драйв, Ср — теплота, Пт — энергия.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Через месяц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ставки растут: от личной дисциплины к гордости за страну. Финал (10–12) — эмоциональный пик.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ВИЗУАЛЬНЫЙ КАНОН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«Одна рука» — лента, узнаваемая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 первого взгляда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" y="2631826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5024" y="24323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Чёрная база + грейдинг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35024" y="2761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кинематографичная глубина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310128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6" y="3473074"/>
            <a:ext cx="277612" cy="2776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35024" y="32735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Шрифт Inter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35024" y="3602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заголовок в нижней трети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151376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4314322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5024" y="4114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красный акцент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35024" y="44439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черта-мотив на каждом посту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992624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86" y="5155570"/>
            <a:ext cx="277612" cy="2776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5024" y="4956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Шлем-вотермарк и слоган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35024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всегда на одном месте</a:t>
            </a:r>
            <a:endParaRPr lang="en-US" sz="1200" dirty="0"/>
          </a:p>
        </p:txBody>
      </p:sp>
      <p:pic>
        <p:nvPicPr>
          <p:cNvPr id="20" name="Image 4" descr="/sessions/upbeat-brave-wozniak/mnt/outputs/deck/thumbs/04_w2_pon_rossiy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286000"/>
            <a:ext cx="2157984" cy="2697480"/>
          </a:xfrm>
          <a:prstGeom prst="rect">
            <a:avLst/>
          </a:prstGeom>
        </p:spPr>
      </p:pic>
      <p:pic>
        <p:nvPicPr>
          <p:cNvPr id="21" name="Image 5" descr="/sessions/upbeat-brave-wozniak/mnt/outputs/deck/thumbs/11_w4_sre_ko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2286000"/>
            <a:ext cx="2157984" cy="2697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26948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Канон един для квадрата 4:5 и вертикали 9:16.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СДЕРЖАННОСТЬ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Красный и флаг — строго по норме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26280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12848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945" y="2395545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Красный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3127248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на каждом посту как черта-мотив. Но красным словом в заголовке выделяется только ключевая мысль поста-призыва. Покрасить красным всё — значит убить акцент.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349240" y="192024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1848" y="2212848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545" y="2395545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Флаг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641848" y="3127248"/>
            <a:ext cx="2971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Появляется только дважды в месяц — в постах «Сделано в России». Это смысловые пики гордости. Редкость = заметность, приглушённый цветокор = премиальность.</a:t>
            </a:r>
            <a:endParaRPr lang="en-US" sz="1300" dirty="0"/>
          </a:p>
        </p:txBody>
      </p:sp>
      <p:pic>
        <p:nvPicPr>
          <p:cNvPr id="14" name="Image 2" descr="/sessions/upbeat-brave-wozniak/mnt/outputs/deck/thumbs/04_w2_pon_rossiy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920240"/>
            <a:ext cx="1404518" cy="1755648"/>
          </a:xfrm>
          <a:prstGeom prst="rect">
            <a:avLst/>
          </a:prstGeom>
        </p:spPr>
      </p:pic>
      <p:pic>
        <p:nvPicPr>
          <p:cNvPr id="15" name="Image 3" descr="/sessions/upbeat-brave-wozniak/mnt/outputs/deck/thumbs/10_w4_pon_rossiy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767328"/>
            <a:ext cx="1404518" cy="17556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06840" y="5650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Посты «Сделано в России» — 04 и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ЛЕНТА ЦЕЛИКОМ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Две цветные точки держат сетку</a:t>
            </a:r>
            <a:endParaRPr lang="en-US" sz="2800" dirty="0"/>
          </a:p>
        </p:txBody>
      </p:sp>
      <p:pic>
        <p:nvPicPr>
          <p:cNvPr id="4" name="Image 0" descr="/sessions/upbeat-brave-wozniak/mnt/outputs/deck/thumbs/montage_gr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736592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201168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919" y="2189439"/>
            <a:ext cx="302849" cy="3028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1993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тёмных плиток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675120" y="23591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две цветные точки — флаговые посты 04 и 10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852160" y="3246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19" y="3423879"/>
            <a:ext cx="302849" cy="3028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5120" y="3227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Знаки препинания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675120" y="35935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глаз цепляется за цвет, лента «дышит»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852160" y="448056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919" y="4658319"/>
            <a:ext cx="302849" cy="3028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75120" y="4462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675120" y="4828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цветные пятна распределены по сетке, не стоят рядом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ВОВЛЕЧЕНИЕ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Лестница вовлечения углубляется к финалу месяца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3357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37231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42134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D9D9D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99923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Сохрани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низкий порог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02254" y="1920240"/>
            <a:ext cx="253357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6574" y="219456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333" y="2372319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57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D9D9D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76574" y="299923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Отметь друга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76574" y="33375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зови своих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55868" y="1920240"/>
            <a:ext cx="253357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30188" y="219456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947" y="237231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49361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D9D9D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530188" y="299923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Ответь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530188" y="33375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мнение, своя история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09481" y="1920240"/>
            <a:ext cx="2533574" cy="1828800"/>
          </a:xfrm>
          <a:prstGeom prst="roundRect">
            <a:avLst>
              <a:gd name="adj" fmla="val 7000"/>
            </a:avLst>
          </a:prstGeom>
          <a:solidFill>
            <a:srgbClr val="FCEBEB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83801" y="219456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561" y="2372319"/>
            <a:ext cx="302849" cy="3028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002975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9383801" y="299923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Выложи своё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383801" y="33375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UGC-челлендж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 БРЕНДА — ПОВТОРЯЮЩИЕСЯ НИТИ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4617720"/>
            <a:ext cx="1404518" cy="384048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48640" y="4608576"/>
            <a:ext cx="14045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«Один из нас»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2154326" y="4617720"/>
            <a:ext cx="2245766" cy="384048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154326" y="4608576"/>
            <a:ext cx="2245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«Город силы — это люди»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4601261" y="4617720"/>
            <a:ext cx="983894" cy="384048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601261" y="4608576"/>
            <a:ext cx="9838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«6 утра»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5786323" y="4617720"/>
            <a:ext cx="1320394" cy="384048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786323" y="4608576"/>
            <a:ext cx="13203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«Сила в нас»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7307885" y="4617720"/>
            <a:ext cx="2498141" cy="384048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307885" y="4608576"/>
            <a:ext cx="249814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«Россия начинается с тебя»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548640" y="4617720"/>
            <a:ext cx="1656893" cy="384048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48640" y="4608576"/>
            <a:ext cx="16568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«Брат не бросит»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Когда одни фразы кочуют из поста в пост — у аудитории формируется внутренний язык движения.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upbeat-brave-wozniak/mnt/outputs/logo/mark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41248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ЭТО РАБОТАЕТ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Это система,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а не разовый набор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 → Мы → Путь → Россия</a:t>
            </a:r>
            <a:pPr indent="0" marL="0">
              <a:buNone/>
            </a:pPr>
            <a:r>
              <a:rPr lang="en-US" sz="1700" b="1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×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Голова → Сердце → Руки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43891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этот каркас можно бесконечно подставлять новые темы. Следующий месяц собирается за 20 минут — и автоматически срастается с предыдущим. Постоянство каркаса при свежем наполнении превращает контент в мир, в который возвращаются.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КИБЕРМОЛ</a:t>
            </a:r>
            <a:pPr indent="0" marL="0">
              <a:buNone/>
            </a:pPr>
            <a:r>
              <a:rPr lang="en-US" sz="1300" spc="100" kern="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Здоровая молодёжь — сильная Россия</a:t>
            </a:r>
            <a:endParaRPr lang="en-US" sz="1300" dirty="0"/>
          </a:p>
        </p:txBody>
      </p:sp>
      <p:pic>
        <p:nvPicPr>
          <p:cNvPr id="8" name="Image 1" descr="/sessions/upbeat-brave-wozniak/mnt/outputs/deck/thumbs/10_w4_pon_rossiy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554480"/>
            <a:ext cx="2450592" cy="3063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Концепция контента КИБЕРМОЛ</dc:title>
  <dc:subject>PptxGenJS Presentation</dc:subject>
  <dc:creator>КИБЕРМОЛ</dc:creator>
  <cp:lastModifiedBy>КИБЕРМОЛ</cp:lastModifiedBy>
  <cp:revision>1</cp:revision>
  <dcterms:created xsi:type="dcterms:W3CDTF">2026-06-30T07:20:16Z</dcterms:created>
  <dcterms:modified xsi:type="dcterms:W3CDTF">2026-06-30T07:20:16Z</dcterms:modified>
</cp:coreProperties>
</file>