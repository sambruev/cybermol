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Участники</c:v>
                </c:pt>
              </c:strCache>
            </c:strRef>
          </c:tx>
          <c:spPr>
            <a:solidFill>
              <a:srgbClr val="E11D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0E10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1">
                  <c:v>600</c:v>
                </c:pt>
                <c:pt idx="2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E0E10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A6E76"/>
                </a:solidFill>
                <a:latin typeface="Inter SemiBol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upbeat-brave-wozniak/mnt/outputs/logo/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841248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АНО «КИБЕРМОЛ» · МОСКВА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19456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Концепция развития</a:t>
            </a:r>
            <a:endParaRPr lang="en-US" sz="4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2026 </a:t>
            </a:r>
            <a:pPr indent="0" marL="0">
              <a:lnSpc>
                <a:spcPct val="104000"/>
              </a:lnSpc>
              <a:buNone/>
            </a:pPr>
            <a:r>
              <a:rPr lang="en-US" sz="48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—</a:t>
            </a:r>
            <a:pPr indent="0" marL="0">
              <a:lnSpc>
                <a:spcPct val="104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2028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4526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Развитие движения на три года и обоснование продления льготной аренды трёх помещений.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КИБЕРМОЛ</a:t>
            </a:r>
            <a:pPr indent="0" marL="0">
              <a:buNone/>
            </a:pPr>
            <a:r>
              <a:rPr lang="en-US" sz="1300" spc="100" kern="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Здоровая молодёжь — сильная Россия</a:t>
            </a:r>
            <a:endParaRPr lang="en-US" sz="1300" dirty="0"/>
          </a:p>
        </p:txBody>
      </p:sp>
      <p:pic>
        <p:nvPicPr>
          <p:cNvPr id="7" name="Image 1" descr="/sessions/upbeat-brave-wozniak/mnt/outputs/logo/logo-clean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554480"/>
            <a:ext cx="20116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 ДВИЖЕНИИ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Молодёжное движение с характером и результатами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«Кибермол» (с 2022) растит здоровую и патриотичную молодёжь Москвы через спорт, патриотическое воспитание, медиа и музыку. Девиз — «Здоровая молодёжь — сильная Россия».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567864" cy="2468880"/>
          </a:xfrm>
          <a:prstGeom prst="roundRect">
            <a:avLst>
              <a:gd name="adj" fmla="val 5185"/>
            </a:avLst>
          </a:prstGeom>
          <a:solidFill>
            <a:srgbClr val="F5F5F3"/>
          </a:solidFill>
          <a:ln/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1089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2022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год основания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90824" y="2651760"/>
            <a:ext cx="2567864" cy="2468880"/>
          </a:xfrm>
          <a:prstGeom prst="roundRect">
            <a:avLst>
              <a:gd name="adj" fmla="val 5185"/>
            </a:avLst>
          </a:prstGeom>
          <a:solidFill>
            <a:srgbClr val="FCEBEB"/>
          </a:solidFill>
          <a:ln/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3704" y="31089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34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573704" y="425196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разрядника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3008" y="2651760"/>
            <a:ext cx="2567864" cy="2468880"/>
          </a:xfrm>
          <a:prstGeom prst="roundRect">
            <a:avLst>
              <a:gd name="adj" fmla="val 5185"/>
            </a:avLst>
          </a:prstGeom>
          <a:solidFill>
            <a:srgbClr val="F5F5F3"/>
          </a:solidFill>
          <a:ln/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5888" y="31089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19+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15888" y="425196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наград и грамот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75191" y="2651760"/>
            <a:ext cx="2567864" cy="2468880"/>
          </a:xfrm>
          <a:prstGeom prst="roundRect">
            <a:avLst>
              <a:gd name="adj" fmla="val 5185"/>
            </a:avLst>
          </a:prstGeom>
          <a:solidFill>
            <a:srgbClr val="FCEBEB"/>
          </a:solidFill>
          <a:ln/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8071" y="31089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9258071" y="425196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6E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площадки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Действующий сайт cybermol.ru, активные соцсети и собственная премиальная система контента.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ПОЛЬЗА ДЛЯ ГОРОДА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Что даёт «Кибермол» городу и району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432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39696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103" y="2349551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2139696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Здоровье молодёжи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47088" y="2615184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спорт, физподготовка, дисциплина и характер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828800"/>
            <a:ext cx="536432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71336" y="2139696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190" y="2349551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77176" y="2139696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Занятость и профилактика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577176" y="2615184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подростки в созидательной среде, а не на улице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6432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014216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03" y="4224071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4014216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Патриотическое воспитание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47088" y="4489704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ценности и связь с историей страны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78728" y="3703320"/>
            <a:ext cx="536432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71336" y="4014216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190" y="4224071"/>
            <a:ext cx="357530" cy="3575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77176" y="4014216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Цифровые и творческие навыки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577176" y="4489704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медиа, звук, востребованные компетенции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НАПРАВЛЕНИЯ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Четыре направления, которые усиливают друг друга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67864" cy="32918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67128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2364638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63240"/>
            <a:ext cx="205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Спорт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04672" y="3657600"/>
            <a:ext cx="2055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Секции, физподготовка, подготовка разрядников. Точка входа в движение.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90824" y="1874520"/>
            <a:ext cx="2567864" cy="32918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46856" y="2167128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366" y="2364638"/>
            <a:ext cx="336499" cy="3364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6856" y="3063240"/>
            <a:ext cx="205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Патриотика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3646856" y="3657600"/>
            <a:ext cx="2055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Лекции, программы и мероприятия на близком молодёжи языке.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33008" y="1874520"/>
            <a:ext cx="2567864" cy="32918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89040" y="2167128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2364638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89040" y="3063240"/>
            <a:ext cx="205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Медиа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489040" y="3657600"/>
            <a:ext cx="2055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Съёмка, монтаж, дизайн, соцсети — и обучение цифровым навыкам.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75191" y="1874520"/>
            <a:ext cx="2567864" cy="329184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31223" y="2167128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734" y="2364638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31223" y="3063240"/>
            <a:ext cx="205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Музыка и звук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9331223" y="3657600"/>
            <a:ext cx="2055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Студия звукозаписи: треки, работа со звуком, творчество.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ПОМЕЩЕНИЯ · ЦЕЛЕВОЕ ИСПОЛЬЗОВАНИЕ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Каждая площадка работает строго по назначению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47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85416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2395271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Студия звукозаписи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9361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 музыки и звука, медиаконтент, бесплатные творческие смены для участников.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3458" y="1874520"/>
            <a:ext cx="34847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7778" y="2185416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633" y="2395271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7778" y="3154680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Медиа-центр / штаб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27778" y="3931920"/>
            <a:ext cx="29361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Производство контента, обучение медиа, координация программ, встречи команды.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58277" y="1874520"/>
            <a:ext cx="34847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2597" y="2185416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452" y="2395271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2597" y="3154680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Учебный класс / лекторий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32597" y="3931920"/>
            <a:ext cx="29361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Образовательные и патриотические занятия, лекции, мастер-классы, теория.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141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Без передачи третьим лицам · без нецелевой выгоды · в уставных целях.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СТРАТЕГИЯ НА ТРИ 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Закрепление → Рост → Устойчивость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28600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2026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59536" y="3063240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Закрепление базы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3566160"/>
            <a:ext cx="28325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8CA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Стабильное расписание на трёх площадках, регулярные студийные смены и медиа-обучение, отлаженная отчётность.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201168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9594" y="228600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2027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79594" y="3063240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и охват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79594" y="3566160"/>
            <a:ext cx="28325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8CA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Больше секций и программ, первые медиа- и музыкальные продукты, партнёрства со школами, городские мероприятия.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8757" y="201168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99653" y="2286000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2028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499653" y="3063240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Устойчивость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99653" y="3566160"/>
            <a:ext cx="28325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8CA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Диверсифицированное финансирование, готовый к тиражированию формат, статус узнаваемого центра района.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СОЦИАЛЬНЫЙ ЭФФЕКТ · KPI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Измеримый рост охвата и результатов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126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Постоянные участники программ, чел./год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040880" y="187452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826" y="2037466"/>
            <a:ext cx="277612" cy="2776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27264" y="18928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 </a:t>
            </a:r>
            <a:pPr indent="0" marL="0"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мероприятий в год к 2028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040880" y="2898648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826" y="3061594"/>
            <a:ext cx="277612" cy="2776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27264" y="29169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100 000  </a:t>
            </a:r>
            <a:pPr indent="0" marL="0"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охват в соцсетях в месяц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7040880" y="3922776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826" y="4085722"/>
            <a:ext cx="277612" cy="2776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27264" y="39410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  </a:t>
            </a:r>
            <a:pPr indent="0" marL="0"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разрядников накопительно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7040880" y="4946904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826" y="5109850"/>
            <a:ext cx="277612" cy="2776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27264" y="49651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 </a:t>
            </a:r>
            <a:pPr indent="0" marL="0"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медиа- и муз. продуктов в год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704088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Цели — проектные ориентиры, уточняются по факту 2024–2025.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АРЕНДУ СТОИТ ПРОДЛИТЬ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Мы соответствуем критериям имущественной поддержки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4328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0312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618" y="2266066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2996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Целевое использование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72768" y="2395728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строго по назначению и уставным целям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1828800"/>
            <a:ext cx="5364328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4760" y="210312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706" y="2266066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02856" y="202996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Регулярность и интенсивность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02856" y="2395728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постоянное расписание на всех площадках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364328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42900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18" y="3591946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335584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Достигнутые результаты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72768" y="3721608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разрядника, 19+ наград, измеримые KPI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78728" y="3154680"/>
            <a:ext cx="5364328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4760" y="342900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706" y="3591946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02856" y="335584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Социальная значимость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02856" y="3721608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форматы, польза для района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480560"/>
            <a:ext cx="5364328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75488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18" y="4917826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72768" y="468172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Отчётность и прозрачность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572768" y="5047488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готовность к отчётам и мониторингу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278728" y="4480560"/>
            <a:ext cx="5364328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34760" y="4754880"/>
            <a:ext cx="603504" cy="603504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706" y="4917826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02856" y="4681728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Добросовестность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7302856" y="5047488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нарушений и задолженности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И УСТОЙЧИВОСТЬ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0E0E1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Кто ведёт движение и на чём оно держится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2331263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Фомин А. А. — директор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спортивное и патриотическое направления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53949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4E4E2"/>
            </a:solidFill>
            <a:prstDash val="solid"/>
          </a:ln>
          <a:effectLst>
            <a:outerShdw sx="100000" sy="100000" kx="0" ky="0" algn="bl" rotWithShape="0" blurRad="114300" dist="38100" dir="5400000">
              <a:srgbClr val="0E0E1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675888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E11D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15" y="3885743"/>
            <a:ext cx="357530" cy="3575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657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0E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Бруев С. С. — партнёр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студия звукозаписи и медиа-направление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0" y="1828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ФИНАНСОВАЯ УСТОЙЧИВОСТЬ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0" y="2286000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95" y="2429195"/>
            <a:ext cx="243962" cy="2439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77456" y="23225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Гранты и субсидии (ФПГ, Росмолодёжь, город)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0" y="3035808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995" y="3179003"/>
            <a:ext cx="243962" cy="2439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77456" y="30723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Партнёры и пожертвования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400800" y="3785616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995" y="3928811"/>
            <a:ext cx="243962" cy="24396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77456" y="38221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Частичная самоокупаемость студии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6400800" y="4535424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0E0E10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995" y="4678619"/>
            <a:ext cx="243962" cy="24396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77456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0E1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Вклад НКО: оборудование, ремонт, содержание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400800" y="5486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Льготная аренда — рычаг, а не дотация: каждый рубль льготы превращается в общественную пользу.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upbeat-brave-wozniak/mnt/outputs/logo/mark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841248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83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1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 ЗАПРОС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Продлить льготную аренду
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трёх помещений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E11D2A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на 3 года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4048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Помещения используются строго по целевому назначению в интересах молодёжи Москвы. Организация добросовестно исполняет обязательства, показывает результаты и готова к полной отчётности. Продление — прямая инвестиция города в здоровую и сильную молодёжь.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frmcybermol@yandex.ru</a:t>
            </a:r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+7 (926) 412-90-10    cybermol.ru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КИБЕРМОЛ</a:t>
            </a:r>
            <a:pPr indent="0" marL="0">
              <a:buNone/>
            </a:pPr>
            <a:r>
              <a:rPr lang="en-US" sz="1300" spc="100" kern="0" dirty="0">
                <a:solidFill>
                  <a:srgbClr val="9A9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Здоровая молодёжь — сильная Россия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Концепция развития 2026–2028</dc:title>
  <dc:subject>PptxGenJS Presentation</dc:subject>
  <dc:creator>КИБЕРМОЛ</dc:creator>
  <cp:lastModifiedBy>КИБЕРМОЛ</cp:lastModifiedBy>
  <cp:revision>1</cp:revision>
  <dcterms:created xsi:type="dcterms:W3CDTF">2026-06-30T08:04:19Z</dcterms:created>
  <dcterms:modified xsi:type="dcterms:W3CDTF">2026-06-30T08:04:19Z</dcterms:modified>
</cp:coreProperties>
</file>